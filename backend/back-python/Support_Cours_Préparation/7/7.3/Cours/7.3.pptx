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12"/>
  </p:notesMasterIdLst>
  <p:sldIdLst>
    <p:sldId id="317" r:id="rId3"/>
    <p:sldId id="289" r:id="rId4"/>
    <p:sldId id="322" r:id="rId5"/>
    <p:sldId id="327" r:id="rId6"/>
    <p:sldId id="328" r:id="rId7"/>
    <p:sldId id="329" r:id="rId8"/>
    <p:sldId id="323" r:id="rId9"/>
    <p:sldId id="324" r:id="rId10"/>
    <p:sldId id="330" r:id="rId11"/>
  </p:sldIdLst>
  <p:sldSz cx="9144000" cy="6858000" type="screen4x3"/>
  <p:notesSz cx="7102475" cy="10234613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4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505E3EF-67EA-436B-97B2-0124C06EBD24}" styleName="中度样式 4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59" autoAdjust="0"/>
    <p:restoredTop sz="91085" autoAdjust="0"/>
  </p:normalViewPr>
  <p:slideViewPr>
    <p:cSldViewPr>
      <p:cViewPr varScale="1">
        <p:scale>
          <a:sx n="71" d="100"/>
          <a:sy n="71" d="100"/>
        </p:scale>
        <p:origin x="1834" y="43"/>
      </p:cViewPr>
      <p:guideLst>
        <p:guide orient="horz" pos="2160"/>
        <p:guide pos="2889"/>
      </p:guideLst>
    </p:cSldViewPr>
  </p:slideViewPr>
  <p:outlineViewPr>
    <p:cViewPr>
      <p:scale>
        <a:sx n="33" d="100"/>
        <a:sy n="33" d="100"/>
      </p:scale>
      <p:origin x="246" y="36318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2" d="100"/>
          <a:sy n="52" d="100"/>
        </p:scale>
        <p:origin x="-2832" y="-108"/>
      </p:cViewPr>
      <p:guideLst>
        <p:guide orient="horz" pos="3224"/>
        <p:guide pos="224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511731"/>
          </a:xfrm>
          <a:prstGeom prst="rect">
            <a:avLst/>
          </a:prstGeom>
        </p:spPr>
        <p:txBody>
          <a:bodyPr vert="horz" lIns="99066" tIns="49533" rIns="99066" bIns="49533" rtlCol="0"/>
          <a:lstStyle>
            <a:lvl1pPr algn="l">
              <a:defRPr sz="13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511731"/>
          </a:xfrm>
          <a:prstGeom prst="rect">
            <a:avLst/>
          </a:prstGeom>
        </p:spPr>
        <p:txBody>
          <a:bodyPr vert="horz" lIns="99066" tIns="49533" rIns="99066" bIns="49533" rtlCol="0"/>
          <a:lstStyle>
            <a:lvl1pPr algn="r">
              <a:defRPr sz="1300"/>
            </a:lvl1pPr>
          </a:lstStyle>
          <a:p>
            <a:fld id="{06CCD8A3-D0C3-4B8F-81C5-B7B3A13A24B7}" type="datetimeFigureOut">
              <a:rPr lang="fr-FR" smtClean="0"/>
              <a:t>29/06/2025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993775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66" tIns="49533" rIns="99066" bIns="49533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710248" y="4861441"/>
            <a:ext cx="5681980" cy="4605576"/>
          </a:xfrm>
          <a:prstGeom prst="rect">
            <a:avLst/>
          </a:prstGeom>
        </p:spPr>
        <p:txBody>
          <a:bodyPr vert="horz" lIns="99066" tIns="49533" rIns="99066" bIns="49533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7739" cy="511731"/>
          </a:xfrm>
          <a:prstGeom prst="rect">
            <a:avLst/>
          </a:prstGeom>
        </p:spPr>
        <p:txBody>
          <a:bodyPr vert="horz" lIns="99066" tIns="49533" rIns="99066" bIns="49533" rtlCol="0" anchor="b"/>
          <a:lstStyle>
            <a:lvl1pPr algn="l">
              <a:defRPr sz="13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4023092" y="9721106"/>
            <a:ext cx="3077739" cy="511731"/>
          </a:xfrm>
          <a:prstGeom prst="rect">
            <a:avLst/>
          </a:prstGeom>
        </p:spPr>
        <p:txBody>
          <a:bodyPr vert="horz" lIns="99066" tIns="49533" rIns="99066" bIns="49533" rtlCol="0" anchor="b"/>
          <a:lstStyle>
            <a:lvl1pPr algn="r">
              <a:defRPr sz="1300"/>
            </a:lvl1pPr>
          </a:lstStyle>
          <a:p>
            <a:fld id="{ACFBFDCE-FF8E-4804-9ED7-98E068DE68B1}" type="slidenum">
              <a:rPr lang="fr-FR" smtClean="0"/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993775" y="768350"/>
            <a:ext cx="5114925" cy="3836988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defTabSz="990600">
              <a:defRPr/>
            </a:pPr>
            <a:endParaRPr lang="fr-FR" baseline="0" dirty="0">
              <a:cs typeface="Arial" panose="020B0604020202020204" pitchFamily="34" charset="0"/>
            </a:endParaRPr>
          </a:p>
          <a:p>
            <a:pPr defTabSz="990600">
              <a:defRPr/>
            </a:pPr>
            <a:endParaRPr lang="fr-FR" baseline="0" dirty="0">
              <a:cs typeface="Arial" panose="020B0604020202020204" pitchFamily="34" charset="0"/>
            </a:endParaRPr>
          </a:p>
          <a:p>
            <a:pPr defTabSz="990600">
              <a:defRPr/>
            </a:pPr>
            <a:endParaRPr lang="fr-FR" dirty="0">
              <a:cs typeface="Arial" panose="020B0604020202020204" pitchFamily="34" charset="0"/>
            </a:endParaRP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72BC6-E43E-4D33-92EC-8931FBF71671}" type="slidenum">
              <a:rPr lang="fr-FR" smtClean="0"/>
              <a:t>1</a:t>
            </a:fld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FBFDCE-FF8E-4804-9ED7-98E068DE68B1}" type="slidenum">
              <a:rPr lang="fr-FR" smtClean="0"/>
              <a:t>2</a:t>
            </a:fld>
            <a:endParaRPr lang="fr-F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FBFDCE-FF8E-4804-9ED7-98E068DE68B1}" type="slidenum">
              <a:rPr lang="fr-FR" smtClean="0"/>
              <a:t>3</a:t>
            </a:fld>
            <a:endParaRPr lang="fr-F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FBFDCE-FF8E-4804-9ED7-98E068DE68B1}" type="slidenum">
              <a:rPr lang="fr-FR" smtClean="0"/>
              <a:t>4</a:t>
            </a:fld>
            <a:endParaRPr lang="fr-F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FBFDCE-FF8E-4804-9ED7-98E068DE68B1}" type="slidenum">
              <a:rPr lang="fr-FR" smtClean="0"/>
              <a:t>5</a:t>
            </a:fld>
            <a:endParaRPr lang="fr-F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FBFDCE-FF8E-4804-9ED7-98E068DE68B1}" type="slidenum">
              <a:rPr lang="fr-FR" smtClean="0"/>
              <a:t>6</a:t>
            </a:fld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 hasCustomPrompt="1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29/06/2025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29/06/2025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29/06/2025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 hasCustomPrompt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29/06/2025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 hasCustomPrompt="1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 hasCustomPrompt="1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29/06/2025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29/06/2025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29/06/2025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29/06/2025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29/06/2025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29/06/2025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 hasCustomPrompt="1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29/06/2025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0F4CA-DDF0-4922-A076-B3FFF707F360}" type="datetime1">
              <a:rPr lang="fr-FR" smtClean="0"/>
              <a:t>29/06/2025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B8A2A-CEE3-4AC8-88AC-18907018F13D}" type="datetime1">
              <a:rPr lang="fr-FR" smtClean="0"/>
              <a:t>29/06/2025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90ABD-5EDF-4330-87A1-F5E091149F39}" type="datetime1">
              <a:rPr lang="fr-FR" smtClean="0"/>
              <a:t>29/06/2025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156DF-D467-4D7C-956A-CDFE02484858}" type="datetime1">
              <a:rPr lang="fr-FR" smtClean="0"/>
              <a:t>29/06/2025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C8B8A-BCB1-4BD7-857A-6FFFDA648566}" type="datetime1">
              <a:rPr lang="fr-FR" smtClean="0"/>
              <a:t>29/06/2025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BE788-06AD-4519-807E-844AC9CFD440}" type="datetime1">
              <a:rPr lang="fr-FR" smtClean="0"/>
              <a:t>29/06/2025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9E3DF-E6EC-43E0-A217-4BBDF4075969}" type="datetime1">
              <a:rPr lang="fr-FR" smtClean="0"/>
              <a:t>29/06/2025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0F12B-9D92-47AE-A88E-E4E9342549DE}" type="datetime1">
              <a:rPr lang="fr-FR" smtClean="0"/>
              <a:t>29/06/2025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CCF42-56A6-4127-923C-0462989227D6}" type="datetime1">
              <a:rPr lang="fr-FR" smtClean="0"/>
              <a:t>29/06/2025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9D686-199F-4CD9-B9B3-3B14DEC38394}" type="datetime1">
              <a:rPr lang="fr-FR" smtClean="0"/>
              <a:t>29/06/2025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24EA7-33E1-452B-A5BE-4BB07EA6C97D}" type="datetime1">
              <a:rPr lang="fr-FR" smtClean="0"/>
              <a:t>29/06/2025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t>29/06/2025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t>‹#›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CC6E91-AD3D-4A26-91B5-BD697B5F7642}" type="datetime1">
              <a:rPr lang="fr-FR" smtClean="0"/>
              <a:t>29/06/2025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500034" y="2540004"/>
            <a:ext cx="82868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algn="ctr"/>
            <a:r>
              <a:rPr lang="fr-FR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Pointeurs et tableaux</a:t>
            </a:r>
            <a:endParaRPr lang="fr-FR" sz="2400" b="1" dirty="0">
              <a:solidFill>
                <a:prstClr val="black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6" name="Picture 6" descr="D:\esprit 2014\ESPRIT 2014\charte essprit 2014\logo-esprit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211" y="6111080"/>
            <a:ext cx="1337716" cy="505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Espace réservé du numéro de diapositive 7"/>
          <p:cNvSpPr>
            <a:spLocks noGrp="1"/>
          </p:cNvSpPr>
          <p:nvPr>
            <p:ph type="sldNum" sz="quarter" idx="12"/>
          </p:nvPr>
        </p:nvSpPr>
        <p:spPr>
          <a:xfrm>
            <a:off x="7086600" y="6492876"/>
            <a:ext cx="2057400" cy="365125"/>
          </a:xfrm>
        </p:spPr>
        <p:txBody>
          <a:bodyPr/>
          <a:lstStyle/>
          <a:p>
            <a:fld id="{CF4668DC-857F-487D-BFFA-8C0CA5037977}" type="slidenum">
              <a:rPr lang="fr-BE" sz="2400" b="1" smtClean="0">
                <a:solidFill>
                  <a:schemeClr val="tx1"/>
                </a:solidFill>
              </a:rPr>
              <a:t>1</a:t>
            </a:fld>
            <a:endParaRPr lang="fr-BE" sz="24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42910" y="1071546"/>
            <a:ext cx="7886700" cy="5572164"/>
          </a:xfrm>
        </p:spPr>
        <p:txBody>
          <a:bodyPr>
            <a:normAutofit/>
          </a:bodyPr>
          <a:lstStyle/>
          <a:p>
            <a:pPr marL="228600" lvl="1">
              <a:spcBef>
                <a:spcPts val="1000"/>
              </a:spcBef>
              <a:buNone/>
            </a:pPr>
            <a:r>
              <a:rPr lang="fr-FR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9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2</a:t>
            </a:fld>
            <a:endParaRPr lang="fr-FR"/>
          </a:p>
        </p:txBody>
      </p:sp>
      <p:sp>
        <p:nvSpPr>
          <p:cNvPr id="9" name="Espace réservé du contenu 2"/>
          <p:cNvSpPr txBox="1"/>
          <p:nvPr/>
        </p:nvSpPr>
        <p:spPr>
          <a:xfrm>
            <a:off x="795310" y="1152508"/>
            <a:ext cx="7886700" cy="55721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fr-FR" sz="5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fr-FR" sz="9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</a:t>
            </a: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fr-FR" sz="9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fr-FR" sz="9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571472" y="1142984"/>
            <a:ext cx="8358246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FontTx/>
              <a:buChar char="-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Chaque opération avec des </a:t>
            </a:r>
            <a:r>
              <a:rPr lang="fr-FR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indices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tableaux peut être aussi exprimée à l’aide de pointeurs.</a:t>
            </a:r>
          </a:p>
          <a:p>
            <a:pPr algn="just">
              <a:buFontTx/>
              <a:buChar char="-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Comme nous l’avons déjà vu dans le cours, le nom d’un tableau représente l’</a:t>
            </a:r>
            <a:r>
              <a:rPr lang="fr-FR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adresse 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 </a:t>
            </a:r>
            <a:r>
              <a:rPr lang="fr-FR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premier élément 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 tableau.</a:t>
            </a:r>
          </a:p>
          <a:p>
            <a:pPr algn="just"/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Tx/>
              <a:buChar char="-"/>
            </a:pP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Le nom d’un tableau est un pointeur constant sur le premier élément du tableau.</a:t>
            </a:r>
          </a:p>
          <a:p>
            <a:pPr algn="just">
              <a:buFontTx/>
              <a:buChar char="-"/>
            </a:pP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Tx/>
              <a:buChar char="-"/>
            </a:pP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-"/>
            </a:pP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14903" y="512859"/>
            <a:ext cx="624311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fr-FR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Pointeurs </a:t>
            </a:r>
            <a:r>
              <a:rPr lang="fr-FR" sz="28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 tableaux</a:t>
            </a:r>
            <a:endParaRPr lang="fr-FR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CustomShape 5"/>
          <p:cNvSpPr/>
          <p:nvPr/>
        </p:nvSpPr>
        <p:spPr>
          <a:xfrm>
            <a:off x="714348" y="2786058"/>
            <a:ext cx="7786742" cy="428628"/>
          </a:xfrm>
          <a:prstGeom prst="rect">
            <a:avLst/>
          </a:prstGeom>
          <a:solidFill>
            <a:srgbClr val="99C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/>
          <a:lstStyle/>
          <a:p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&amp;tableau[0] et tableau représentent l’adresse du premier élément du tableau</a:t>
            </a:r>
            <a:endParaRPr lang="fr-FR" dirty="0"/>
          </a:p>
          <a:p>
            <a:pPr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11" name="Image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00364" y="5143512"/>
            <a:ext cx="4495680" cy="1420920"/>
          </a:xfrm>
          <a:prstGeom prst="rect">
            <a:avLst/>
          </a:prstGeom>
          <a:ln w="9360">
            <a:solidFill>
              <a:srgbClr val="333399"/>
            </a:solidFill>
            <a:miter/>
          </a:ln>
        </p:spPr>
      </p:pic>
      <p:sp>
        <p:nvSpPr>
          <p:cNvPr id="12" name="CustomShape 9"/>
          <p:cNvSpPr/>
          <p:nvPr/>
        </p:nvSpPr>
        <p:spPr>
          <a:xfrm>
            <a:off x="1785918" y="4143380"/>
            <a:ext cx="3955680" cy="916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/>
          <a:lstStyle/>
          <a:p>
            <a:r>
              <a:rPr lang="fr-CA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fr-CA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A[10];</a:t>
            </a:r>
            <a:endParaRPr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CA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fr-CA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* P;</a:t>
            </a:r>
            <a:endParaRPr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CA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 = A;	</a:t>
            </a:r>
            <a:r>
              <a:rPr lang="fr-CA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/*est équivalente à P = &amp;A[0]*/</a:t>
            </a:r>
            <a:endParaRPr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42910" y="1071546"/>
            <a:ext cx="7886700" cy="5572164"/>
          </a:xfrm>
        </p:spPr>
        <p:txBody>
          <a:bodyPr>
            <a:normAutofit/>
          </a:bodyPr>
          <a:lstStyle/>
          <a:p>
            <a:pPr marL="228600" lvl="1">
              <a:spcBef>
                <a:spcPts val="1000"/>
              </a:spcBef>
              <a:buNone/>
            </a:pPr>
            <a:r>
              <a:rPr lang="fr-FR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9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3</a:t>
            </a:fld>
            <a:endParaRPr lang="fr-FR"/>
          </a:p>
        </p:txBody>
      </p:sp>
      <p:sp>
        <p:nvSpPr>
          <p:cNvPr id="9" name="Espace réservé du contenu 2"/>
          <p:cNvSpPr txBox="1"/>
          <p:nvPr/>
        </p:nvSpPr>
        <p:spPr>
          <a:xfrm>
            <a:off x="795310" y="1152508"/>
            <a:ext cx="7886700" cy="55721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fr-FR" sz="5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fr-FR" sz="9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</a:t>
            </a: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fr-FR" sz="9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fr-FR" sz="9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14903" y="512859"/>
            <a:ext cx="624311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r-FR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Pointeurs et tableaux</a:t>
            </a:r>
          </a:p>
        </p:txBody>
      </p:sp>
      <p:pic>
        <p:nvPicPr>
          <p:cNvPr id="19" name="Image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57422" y="1428736"/>
            <a:ext cx="4195800" cy="2382840"/>
          </a:xfrm>
          <a:prstGeom prst="rect">
            <a:avLst/>
          </a:prstGeom>
          <a:ln>
            <a:noFill/>
          </a:ln>
        </p:spPr>
      </p:pic>
      <p:pic>
        <p:nvPicPr>
          <p:cNvPr id="20" name="Image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71604" y="4071942"/>
            <a:ext cx="6019920" cy="15444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42910" y="1556792"/>
            <a:ext cx="8501090" cy="644424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peut </a:t>
            </a:r>
            <a:r>
              <a:rPr lang="fr-F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déplacer</a:t>
            </a:r>
            <a:r>
              <a:rPr lang="fr-F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 pointeur dans un plan mémoire à l'aide des opérateurs :</a:t>
            </a:r>
          </a:p>
          <a:p>
            <a:pPr marL="0" indent="0">
              <a:buNone/>
            </a:pPr>
            <a:r>
              <a:rPr lang="fr-F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d'addition, de soustraction, d'incrémentation, de décrémentation. </a:t>
            </a:r>
          </a:p>
          <a:p>
            <a:pPr marL="0" indent="0">
              <a:buNone/>
            </a:pPr>
            <a:r>
              <a:rPr lang="fr-FR" sz="1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Affectation par un pointeur sur le même type</a:t>
            </a:r>
            <a:endParaRPr lang="fr-FR" sz="18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P1 et P2 deux pointeurs sur le même type de données </a:t>
            </a:r>
          </a:p>
          <a:p>
            <a:pPr marL="0" indent="0">
              <a:buNone/>
            </a:pPr>
            <a:r>
              <a:rPr lang="fr-F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fr-F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P1 = P2;        </a:t>
            </a:r>
            <a:r>
              <a:rPr lang="fr-F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affecte l’adresse contenue dans P2 à P1.</a:t>
            </a:r>
            <a:r>
              <a:rPr lang="fr-F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</a:t>
            </a:r>
          </a:p>
          <a:p>
            <a:pPr marL="0" indent="0">
              <a:buNone/>
            </a:pPr>
            <a:r>
              <a:rPr lang="fr-F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</a:t>
            </a:r>
            <a:r>
              <a:rPr lang="fr-FR" sz="180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fr-FR" sz="1800">
                <a:latin typeface="Times New Roman" panose="02020603050405020304" pitchFamily="18" charset="0"/>
                <a:cs typeface="Times New Roman" panose="02020603050405020304" pitchFamily="18" charset="0"/>
              </a:rPr>
              <a:t> P1 pointe </a:t>
            </a:r>
            <a:r>
              <a:rPr lang="fr-F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 la même variable que P2.</a:t>
            </a:r>
          </a:p>
          <a:p>
            <a:pPr marL="0" lvl="0" indent="0">
              <a:buNone/>
            </a:pPr>
            <a:r>
              <a:rPr lang="fr-FR" sz="1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 et soustraction d'un nombre entier</a:t>
            </a:r>
            <a:endParaRPr lang="fr-FR" sz="18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 P pointe sur l'élément A[i] d'un tableau, alors</a:t>
            </a:r>
          </a:p>
          <a:p>
            <a:pPr marL="0" indent="0">
              <a:buNone/>
            </a:pPr>
            <a:r>
              <a:rPr lang="fr-F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</a:t>
            </a:r>
            <a:r>
              <a:rPr lang="fr-FR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P+n</a:t>
            </a:r>
            <a:r>
              <a:rPr lang="fr-F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pointe sur A[</a:t>
            </a:r>
            <a:r>
              <a:rPr lang="fr-F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i+n</a:t>
            </a:r>
            <a:r>
              <a:rPr lang="fr-F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  <a:p>
            <a:pPr marL="0" indent="0">
              <a:buNone/>
            </a:pPr>
            <a:r>
              <a:rPr lang="fr-F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P-n </a:t>
            </a:r>
            <a:r>
              <a:rPr lang="fr-F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pointe sur A[i-n]</a:t>
            </a:r>
          </a:p>
          <a:p>
            <a:r>
              <a:rPr lang="fr-F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déplacement d'un pointeur par l'opérateur + ou – se fait par un nombre d'octets  multiple de la taille de la variable sur laquelle il pointe.</a:t>
            </a:r>
          </a:p>
          <a:p>
            <a:pPr marL="0" indent="0">
              <a:buNone/>
            </a:pPr>
            <a:endParaRPr lang="fr-F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fr-FR" sz="18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4</a:t>
            </a:fld>
            <a:endParaRPr lang="fr-FR"/>
          </a:p>
        </p:txBody>
      </p:sp>
      <p:sp>
        <p:nvSpPr>
          <p:cNvPr id="6" name="Rectangle 5"/>
          <p:cNvSpPr/>
          <p:nvPr/>
        </p:nvSpPr>
        <p:spPr>
          <a:xfrm>
            <a:off x="921175" y="1177588"/>
            <a:ext cx="624311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Arithmétique des pointeurs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14903" y="512859"/>
            <a:ext cx="624311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fr-FR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Pointeurs </a:t>
            </a:r>
            <a:r>
              <a:rPr lang="fr-FR" sz="28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 tableaux</a:t>
            </a:r>
            <a:endParaRPr lang="fr-FR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42910" y="2060848"/>
            <a:ext cx="8501090" cy="36724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1800" b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Incrémentation </a:t>
            </a:r>
            <a:r>
              <a:rPr lang="fr-FR" sz="18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 décrémentation d'un pointeur</a:t>
            </a:r>
          </a:p>
          <a:p>
            <a:pPr marL="0" indent="0">
              <a:buNone/>
            </a:pPr>
            <a:r>
              <a:rPr lang="fr-F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 P pointe sur l'élément A[i] d'un tableau, alors </a:t>
            </a:r>
            <a:r>
              <a:rPr lang="fr-FR" sz="1800">
                <a:latin typeface="Times New Roman" panose="02020603050405020304" pitchFamily="18" charset="0"/>
                <a:cs typeface="Times New Roman" panose="02020603050405020304" pitchFamily="18" charset="0"/>
              </a:rPr>
              <a:t>après l'instruction</a:t>
            </a:r>
          </a:p>
          <a:p>
            <a:pPr marL="0" indent="0">
              <a:buNone/>
            </a:pPr>
            <a:endParaRPr lang="fr-F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fr-FR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fr-F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fr-FR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++; 	</a:t>
            </a:r>
            <a:r>
              <a:rPr lang="fr-FR" sz="1800">
                <a:latin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r>
              <a:rPr lang="fr-F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pointe sur A[i+1]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fr-F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P+=n</a:t>
            </a:r>
            <a:r>
              <a:rPr lang="fr-FR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; 	</a:t>
            </a:r>
            <a:r>
              <a:rPr lang="fr-FR" sz="1800">
                <a:latin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r>
              <a:rPr lang="fr-F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pointe sur A[</a:t>
            </a:r>
            <a:r>
              <a:rPr lang="fr-F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i+n</a:t>
            </a:r>
            <a:r>
              <a:rPr lang="fr-F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fr-F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P-</a:t>
            </a:r>
            <a:r>
              <a:rPr lang="fr-FR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-; 	</a:t>
            </a:r>
            <a:r>
              <a:rPr lang="fr-FR" sz="1800">
                <a:latin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r>
              <a:rPr lang="fr-F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pointe sur A[i-1]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fr-F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P-=n</a:t>
            </a:r>
            <a:r>
              <a:rPr lang="fr-FR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; 	</a:t>
            </a:r>
            <a:r>
              <a:rPr lang="fr-FR" sz="1800">
                <a:latin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r>
              <a:rPr lang="fr-F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pointe sur </a:t>
            </a:r>
            <a:r>
              <a:rPr lang="fr-FR" sz="1800">
                <a:latin typeface="Times New Roman" panose="02020603050405020304" pitchFamily="18" charset="0"/>
                <a:cs typeface="Times New Roman" panose="02020603050405020304" pitchFamily="18" charset="0"/>
              </a:rPr>
              <a:t>A[i-n]</a:t>
            </a:r>
            <a:endParaRPr lang="fr-F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fr-FR" sz="18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5</a:t>
            </a:fld>
            <a:endParaRPr lang="fr-FR"/>
          </a:p>
        </p:txBody>
      </p:sp>
      <p:sp>
        <p:nvSpPr>
          <p:cNvPr id="7" name="Rectangle 6"/>
          <p:cNvSpPr/>
          <p:nvPr/>
        </p:nvSpPr>
        <p:spPr>
          <a:xfrm>
            <a:off x="500034" y="1571612"/>
            <a:ext cx="792961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fr-F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21175" y="1177588"/>
            <a:ext cx="624311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Arithmétique des pointeurs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14903" y="512859"/>
            <a:ext cx="624311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fr-FR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Pointeurs </a:t>
            </a:r>
            <a:r>
              <a:rPr lang="fr-FR" sz="28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 tableaux</a:t>
            </a:r>
            <a:endParaRPr lang="fr-FR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42910" y="1844824"/>
            <a:ext cx="8501090" cy="691276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lvl="0" indent="0">
              <a:buNone/>
            </a:pPr>
            <a:r>
              <a:rPr lang="fr-FR" sz="18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Soustraction de deux pointeurs</a:t>
            </a:r>
            <a:endParaRPr lang="fr-FR" sz="18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Soient P1 et P2 deux pointeurs qui pointent </a:t>
            </a:r>
            <a:r>
              <a:rPr lang="fr-FR" sz="18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sur deux cases du même tableau</a:t>
            </a:r>
            <a:r>
              <a:rPr lang="fr-FR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r>
              <a:rPr lang="fr-FR" sz="18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   P1-P2 </a:t>
            </a:r>
            <a:r>
              <a:rPr lang="fr-FR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fournit le nombre de cases comprises entre P1 et P2.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   Le résultat de la soustraction </a:t>
            </a:r>
            <a:r>
              <a:rPr lang="fr-FR" sz="18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P1-P2 </a:t>
            </a:r>
            <a:r>
              <a:rPr lang="fr-FR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    - négatif, si P1 précède P2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    -  nul, si P1 = P2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    - positif, si P2 précède P1</a:t>
            </a:r>
          </a:p>
          <a:p>
            <a:pPr>
              <a:buNone/>
            </a:pP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fr-FR" sz="18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Comparaison de deux pointeurs</a:t>
            </a:r>
          </a:p>
          <a:p>
            <a:pPr marL="0" indent="0">
              <a:buNone/>
            </a:pPr>
            <a:r>
              <a:rPr lang="fr-F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peut comparer deux pointeurs par </a:t>
            </a:r>
            <a:r>
              <a:rPr lang="fr-F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fr-F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fr-F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&lt;=</a:t>
            </a:r>
            <a:r>
              <a:rPr lang="fr-F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&gt;=</a:t>
            </a:r>
            <a:r>
              <a:rPr lang="fr-F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==</a:t>
            </a:r>
            <a:r>
              <a:rPr lang="fr-F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!=</a:t>
            </a:r>
            <a:r>
              <a:rPr lang="fr-F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fr-F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comparaison de deux pointeurs qui </a:t>
            </a:r>
            <a:r>
              <a:rPr lang="fr-FR" sz="1800">
                <a:latin typeface="Times New Roman" panose="02020603050405020304" pitchFamily="18" charset="0"/>
                <a:cs typeface="Times New Roman" panose="02020603050405020304" pitchFamily="18" charset="0"/>
              </a:rPr>
              <a:t>pointent </a:t>
            </a:r>
            <a:r>
              <a:rPr lang="fr-FR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sur deux cases du </a:t>
            </a:r>
            <a:r>
              <a:rPr lang="fr-FR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même tableau </a:t>
            </a:r>
            <a:r>
              <a:rPr lang="fr-F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 équivalente à la comparaison des indices correspondants.</a:t>
            </a:r>
          </a:p>
          <a:p>
            <a:pPr>
              <a:buNone/>
            </a:pPr>
            <a:endParaRPr lang="fr-FR" sz="18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6</a:t>
            </a:fld>
            <a:endParaRPr lang="fr-FR"/>
          </a:p>
        </p:txBody>
      </p:sp>
      <p:sp>
        <p:nvSpPr>
          <p:cNvPr id="8" name="Rectangle 7"/>
          <p:cNvSpPr/>
          <p:nvPr/>
        </p:nvSpPr>
        <p:spPr>
          <a:xfrm>
            <a:off x="921175" y="1177588"/>
            <a:ext cx="624311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Arithmétique des pointeurs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14903" y="512859"/>
            <a:ext cx="624311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fr-FR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Pointeurs </a:t>
            </a:r>
            <a:r>
              <a:rPr lang="fr-FR" sz="28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 tableaux</a:t>
            </a:r>
            <a:endParaRPr lang="fr-FR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7</a:t>
            </a:fld>
            <a:endParaRPr lang="fr-FR"/>
          </a:p>
        </p:txBody>
      </p:sp>
      <p:pic>
        <p:nvPicPr>
          <p:cNvPr id="6" name="Espace réservé du contenu 5"/>
          <p:cNvPicPr>
            <a:picLocks noGrp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285984" y="2214554"/>
            <a:ext cx="4622193" cy="4351338"/>
          </a:xfrm>
          <a:prstGeom prst="rect">
            <a:avLst/>
          </a:prstGeom>
          <a:ln w="9360">
            <a:solidFill>
              <a:srgbClr val="009999"/>
            </a:solidFill>
            <a:miter/>
          </a:ln>
        </p:spPr>
      </p:pic>
      <p:sp>
        <p:nvSpPr>
          <p:cNvPr id="7" name="Rectangle 6"/>
          <p:cNvSpPr/>
          <p:nvPr/>
        </p:nvSpPr>
        <p:spPr>
          <a:xfrm>
            <a:off x="614903" y="512859"/>
            <a:ext cx="624311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fr-FR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fr-FR" sz="28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Récapitulatif </a:t>
            </a:r>
            <a:endParaRPr lang="fr-FR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1472" y="1285860"/>
            <a:ext cx="771530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Soit un tableau A de type quelconque et i un indice d’une composante de A: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8</a:t>
            </a:fld>
            <a:endParaRPr lang="fr-FR"/>
          </a:p>
        </p:txBody>
      </p:sp>
      <p:sp>
        <p:nvSpPr>
          <p:cNvPr id="7" name="Rectangle 6"/>
          <p:cNvSpPr/>
          <p:nvPr/>
        </p:nvSpPr>
        <p:spPr>
          <a:xfrm>
            <a:off x="614903" y="512859"/>
            <a:ext cx="624311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fr-FR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Pointeurs et chaines de caractères</a:t>
            </a:r>
          </a:p>
        </p:txBody>
      </p:sp>
      <p:sp>
        <p:nvSpPr>
          <p:cNvPr id="8" name="Espace réservé du contenu 2"/>
          <p:cNvSpPr>
            <a:spLocks noGrp="1"/>
          </p:cNvSpPr>
          <p:nvPr>
            <p:ph idx="1"/>
          </p:nvPr>
        </p:nvSpPr>
        <p:spPr>
          <a:xfrm>
            <a:off x="642910" y="1071546"/>
            <a:ext cx="7886700" cy="5572164"/>
          </a:xfrm>
        </p:spPr>
        <p:txBody>
          <a:bodyPr>
            <a:normAutofit/>
          </a:bodyPr>
          <a:lstStyle/>
          <a:p>
            <a:pPr marL="228600" lvl="1">
              <a:spcBef>
                <a:spcPts val="1000"/>
              </a:spcBef>
              <a:buNone/>
            </a:pPr>
            <a:r>
              <a:rPr lang="fr-FR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9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Espace réservé du numéro de diapositive 4"/>
          <p:cNvSpPr txBox="1"/>
          <p:nvPr/>
        </p:nvSpPr>
        <p:spPr>
          <a:xfrm>
            <a:off x="6457950" y="609793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4EA0E9-6AA5-4C72-ADD8-CBD3FCBC5038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8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51520" y="1628800"/>
            <a:ext cx="8712725" cy="2912464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marL="71755" algn="just">
              <a:spcAft>
                <a:spcPts val="600"/>
              </a:spcAft>
              <a:buFont typeface="Arial Narrow" panose="020B0606020202030204" pitchFamily="34" charset="0"/>
              <a:buChar char="–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Tout ce qui a été mentionné concernant les pointeurs et les tableaux reste vrai pour les pointeurs et les chaînes de caractères.</a:t>
            </a:r>
            <a:endParaRPr lang="en-US" dirty="0"/>
          </a:p>
          <a:p>
            <a:pPr marL="71755" algn="just">
              <a:buFont typeface="Arial Narrow" panose="020B0606020202030204" pitchFamily="34" charset="0"/>
              <a:buChar char="–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Une chaine de caractère est un tableau de caractères qui se termine par le caractère spécial  ‘ \0 ’.</a:t>
            </a:r>
          </a:p>
          <a:p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1755" indent="-285750" algn="just">
              <a:buFont typeface="Arial Narrow" panose="020B0606020202030204" pitchFamily="34" charset="0"/>
              <a:buChar char="–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On peut attribuer l'adresse d'une chaîne de caractères constante à un pointeur sur char :</a:t>
            </a:r>
          </a:p>
          <a:p>
            <a:pPr>
              <a:spcBef>
                <a:spcPts val="600"/>
              </a:spcBef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Exemple:</a:t>
            </a:r>
          </a:p>
          <a:p>
            <a:pPr lvl="1">
              <a:lnSpc>
                <a:spcPct val="107000"/>
              </a:lnSpc>
              <a:spcBef>
                <a:spcPts val="1200"/>
              </a:spcBef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char*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p_ch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"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ProgrammationC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"; //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p_ch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est un pointeur sur une variable de type char.</a:t>
            </a:r>
          </a:p>
          <a:p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ZoneTexte 13"/>
          <p:cNvSpPr txBox="1"/>
          <p:nvPr/>
        </p:nvSpPr>
        <p:spPr>
          <a:xfrm>
            <a:off x="107504" y="4869608"/>
            <a:ext cx="8640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P_ch</a:t>
            </a:r>
          </a:p>
        </p:txBody>
      </p:sp>
      <p:cxnSp>
        <p:nvCxnSpPr>
          <p:cNvPr id="15" name="Connecteur droit avec flèche 14"/>
          <p:cNvCxnSpPr/>
          <p:nvPr/>
        </p:nvCxnSpPr>
        <p:spPr>
          <a:xfrm flipV="1">
            <a:off x="1043608" y="4935896"/>
            <a:ext cx="864096" cy="288032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ableau 15"/>
          <p:cNvGraphicFramePr>
            <a:graphicFrameLocks noGrp="1"/>
          </p:cNvGraphicFramePr>
          <p:nvPr/>
        </p:nvGraphicFramePr>
        <p:xfrm>
          <a:off x="2160480" y="4726633"/>
          <a:ext cx="6732000" cy="36576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r>
                        <a:rPr lang="fr-FR" dirty="0"/>
                        <a:t>‘P’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‘r’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‘o’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‘g’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‘r’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‘a’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‘m’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‘m’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‘a’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‘t’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‘i’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‘o’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‘n’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‘C’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‘\0’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" name="Rectangle 16"/>
          <p:cNvSpPr/>
          <p:nvPr/>
        </p:nvSpPr>
        <p:spPr>
          <a:xfrm>
            <a:off x="1691680" y="6021736"/>
            <a:ext cx="727280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chaîne " </a:t>
            </a:r>
            <a:r>
              <a:rPr lang="fr-FR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ProgrammationC</a:t>
            </a:r>
            <a:r>
              <a:rPr lang="fr-FR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 est appelée </a:t>
            </a:r>
            <a:r>
              <a:rPr lang="fr-FR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constante chaîne de caractères.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8" name="Tableau 17"/>
          <p:cNvGraphicFramePr>
            <a:graphicFrameLocks noGrp="1"/>
          </p:cNvGraphicFramePr>
          <p:nvPr/>
        </p:nvGraphicFramePr>
        <p:xfrm>
          <a:off x="107504" y="5223928"/>
          <a:ext cx="1179000" cy="36000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17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fr-FR" sz="1600"/>
                        <a:t>0028FF00</a:t>
                      </a:r>
                      <a:endParaRPr lang="fr-FR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9" name="Tableau 18"/>
          <p:cNvGraphicFramePr>
            <a:graphicFrameLocks noGrp="1"/>
          </p:cNvGraphicFramePr>
          <p:nvPr/>
        </p:nvGraphicFramePr>
        <p:xfrm>
          <a:off x="1567542" y="5229648"/>
          <a:ext cx="1060242" cy="57912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0602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fr-FR" sz="1600"/>
                        <a:t>@ 0028FF00</a:t>
                      </a:r>
                      <a:endParaRPr lang="fr-FR" sz="16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0" name="Connecteur droit 19"/>
          <p:cNvCxnSpPr/>
          <p:nvPr/>
        </p:nvCxnSpPr>
        <p:spPr>
          <a:xfrm>
            <a:off x="2627784" y="5085632"/>
            <a:ext cx="0" cy="7200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20"/>
          <p:cNvCxnSpPr/>
          <p:nvPr/>
        </p:nvCxnSpPr>
        <p:spPr>
          <a:xfrm flipH="1">
            <a:off x="1475656" y="5085632"/>
            <a:ext cx="720080" cy="6480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Tableau 21"/>
          <p:cNvGraphicFramePr>
            <a:graphicFrameLocks noGrp="1"/>
          </p:cNvGraphicFramePr>
          <p:nvPr/>
        </p:nvGraphicFramePr>
        <p:xfrm>
          <a:off x="107504" y="5629444"/>
          <a:ext cx="1060242" cy="57912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0602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l"/>
                      <a:r>
                        <a:rPr lang="fr-FR" sz="1600"/>
                        <a:t>@ 0028FEFC</a:t>
                      </a:r>
                      <a:endParaRPr lang="fr-FR" sz="16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9</a:t>
            </a:fld>
            <a:endParaRPr lang="fr-FR"/>
          </a:p>
        </p:txBody>
      </p:sp>
      <p:sp>
        <p:nvSpPr>
          <p:cNvPr id="7" name="Rectangle 6"/>
          <p:cNvSpPr/>
          <p:nvPr/>
        </p:nvSpPr>
        <p:spPr>
          <a:xfrm>
            <a:off x="614903" y="512859"/>
            <a:ext cx="624311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r-FR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Pointeurs et chaines de caractères</a:t>
            </a:r>
          </a:p>
        </p:txBody>
      </p:sp>
      <p:sp>
        <p:nvSpPr>
          <p:cNvPr id="8" name="Espace réservé du contenu 2"/>
          <p:cNvSpPr>
            <a:spLocks noGrp="1"/>
          </p:cNvSpPr>
          <p:nvPr>
            <p:ph idx="1"/>
          </p:nvPr>
        </p:nvSpPr>
        <p:spPr>
          <a:xfrm>
            <a:off x="642910" y="1071546"/>
            <a:ext cx="7886700" cy="5572164"/>
          </a:xfrm>
        </p:spPr>
        <p:txBody>
          <a:bodyPr>
            <a:normAutofit/>
          </a:bodyPr>
          <a:lstStyle/>
          <a:p>
            <a:pPr marL="228600" lvl="1">
              <a:spcBef>
                <a:spcPts val="1000"/>
              </a:spcBef>
              <a:buNone/>
            </a:pPr>
            <a:r>
              <a:rPr lang="fr-FR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9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23528" y="2348880"/>
            <a:ext cx="8424936" cy="2294795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 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compilateur 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place la chaîne « 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ProgrammationC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dans une zone mémoire de 15 octets, c'est‐à‐dire un tableau de 15 caractères qui contient les 14 lettres du mot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ProgrammationC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le caractère ‘ \0 ‘.</a:t>
            </a:r>
          </a:p>
          <a:p>
            <a:endParaRPr lang="fr-FR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l'exécution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l'affectation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p_ch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" 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ProgrammationC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"  met l'adresse de cette zone mémoire dans le pointeur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p_ch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  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p_ch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pointe donc sur le premier caractère de la chaîne.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endParaRPr lang="fr-FR" sz="1600" dirty="0">
              <a:latin typeface="Calibri" panose="020F0502020204030204" charset="0"/>
              <a:ea typeface="Calibri" panose="020F050202020403020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720</Words>
  <Application>Microsoft Office PowerPoint</Application>
  <PresentationFormat>On-screen Show (4:3)</PresentationFormat>
  <Paragraphs>110</Paragraphs>
  <Slides>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Arial Narrow</vt:lpstr>
      <vt:lpstr>Calibri</vt:lpstr>
      <vt:lpstr>Calibri Light</vt:lpstr>
      <vt:lpstr>Times New Roman</vt:lpstr>
      <vt:lpstr>Thème Office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esprit</dc:creator>
  <cp:lastModifiedBy>naouel boughattas</cp:lastModifiedBy>
  <cp:revision>382</cp:revision>
  <dcterms:created xsi:type="dcterms:W3CDTF">2017-09-09T12:22:00Z</dcterms:created>
  <dcterms:modified xsi:type="dcterms:W3CDTF">2025-06-29T08:26:18Z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1036-11.2.0.11417</vt:lpwstr>
  </property>
  <property fmtid="{D5CDD505-2E9C-101B-9397-08002B2CF9AE}" pid="3" name="ICV">
    <vt:lpwstr>768E6AA9A802482EBF3A32EE1EA2B467</vt:lpwstr>
  </property>
</Properties>
</file>